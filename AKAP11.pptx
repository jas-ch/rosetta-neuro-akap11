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12fa3d67f1d2875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12fa3d67f1d2875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fb6f66a5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fb6f66a5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000c50d5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000c50d5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fb6f66a5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fb6f66a5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12fa3d67f1d2875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12fa3d67f1d2875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fb6f66a5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efb6f66a5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fb6f66a5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fb6f66a5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fb6f66a5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efb6f66a5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000c50d5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000c50d5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51cc4b0d074cfc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51cc4b0d074cfc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odelorg.us/portal/article/index/id/10909/post_type/3.html" TargetMode="External"/><Relationship Id="rId4" Type="http://schemas.openxmlformats.org/officeDocument/2006/relationships/hyperlink" Target="https://www.cyagen.com/us/en/catalog-model-bank-us/S-KO-05497" TargetMode="External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hyperlink" Target="https://restrictionmapper.org/" TargetMode="External"/><Relationship Id="rId6" Type="http://schemas.openxmlformats.org/officeDocument/2006/relationships/hyperlink" Target="https://www.ncbi.nlm.nih.gov/tools/primer-blast/primertool.cgi?ctg_time=1722479772&amp;job_key=nJZCI1uRVjlxA8YGy2biNLF98wacbugbnQ" TargetMode="External"/><Relationship Id="rId7" Type="http://schemas.openxmlformats.org/officeDocument/2006/relationships/hyperlink" Target="https://www.ncbi.nlm.nih.gov/tools/primer-blast/primertool.cgi?ctg_time=1722479772&amp;job_key=nJZCI1uRVjlxA8YGy2biNLF98wacbugbnQ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ubmed.ncbi.nlm.nih.gov/36914870/" TargetMode="External"/><Relationship Id="rId4" Type="http://schemas.openxmlformats.org/officeDocument/2006/relationships/hyperlink" Target="https://human.brain-map.org/microarray/search/show?exact_match=false&amp;search_term=%22AKAP11%22&amp;search_type=gene" TargetMode="External"/><Relationship Id="rId11" Type="http://schemas.openxmlformats.org/officeDocument/2006/relationships/hyperlink" Target="https://restrictionmapper.org/" TargetMode="External"/><Relationship Id="rId10" Type="http://schemas.openxmlformats.org/officeDocument/2006/relationships/hyperlink" Target="https://epd.expasy.org/cgi-bin/epd/get_doc?db=hgEpdNew&amp;format=genome&amp;entry=AKAP11_1" TargetMode="External"/><Relationship Id="rId12" Type="http://schemas.openxmlformats.org/officeDocument/2006/relationships/hyperlink" Target="https://www.ncbi.nlm.nih.gov/tools/primer-blast/primertool.cgi?ctg_time=1722479772&amp;job_key=nJZCI1uRVjlxA8YGy2biNLF98wacbugbnQ" TargetMode="External"/><Relationship Id="rId9" Type="http://schemas.openxmlformats.org/officeDocument/2006/relationships/hyperlink" Target="https://string-db.org/cgi/network?taskId=bNSGCkbOy2zl&amp;sessionId=bbq44gFyXkSN" TargetMode="External"/><Relationship Id="rId5" Type="http://schemas.openxmlformats.org/officeDocument/2006/relationships/hyperlink" Target="https://www.ncbi.nlm.nih.gov/books/NBK551509/" TargetMode="External"/><Relationship Id="rId6" Type="http://schemas.openxmlformats.org/officeDocument/2006/relationships/hyperlink" Target="https://www.ncbi.nlm.nih.gov/books/NBK234157/" TargetMode="External"/><Relationship Id="rId7" Type="http://schemas.openxmlformats.org/officeDocument/2006/relationships/hyperlink" Target="https://alphafold.ebi.ac.uk/entry/Q9UKA4" TargetMode="External"/><Relationship Id="rId8" Type="http://schemas.openxmlformats.org/officeDocument/2006/relationships/hyperlink" Target="https://alggen.lsi.upc.es/cgi-bin/promo_v3/promo/promoinit.cgi?dirDB=TF_8.3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enome.ucsc.edu/cgi-bin/hgTracks?db=hg38&amp;lastVirtModeType=default&amp;lastVirtModeExtraState=&amp;virtModeType=default&amp;virtMode=0&amp;nonVirtPosition=&amp;position=chr13%3A42269754%2D42320863&amp;hgsid=2321212104_xLa0FhlxvTKtRaTCyUbX0AoFr0Yx" TargetMode="External"/><Relationship Id="rId4" Type="http://schemas.openxmlformats.org/officeDocument/2006/relationships/hyperlink" Target="https://www.ncbi.nlm.nih.gov/snp/rs238353" TargetMode="External"/><Relationship Id="rId5" Type="http://schemas.openxmlformats.org/officeDocument/2006/relationships/hyperlink" Target="https://www.ncbi.nlm.nih.gov/snp/rs61748843" TargetMode="External"/><Relationship Id="rId6" Type="http://schemas.openxmlformats.org/officeDocument/2006/relationships/hyperlink" Target="https://pubmed.ncbi.nlm.nih.gov/35410376/" TargetMode="External"/><Relationship Id="rId7" Type="http://schemas.openxmlformats.org/officeDocument/2006/relationships/hyperlink" Target="https://pubmed.ncbi.nlm.nih.gov/36914641/" TargetMode="External"/><Relationship Id="rId8" Type="http://schemas.openxmlformats.org/officeDocument/2006/relationships/hyperlink" Target="https://pubmed.ncbi.nlm.nih.gov/37171958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AKAP11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3925" y="2771200"/>
            <a:ext cx="2417275" cy="24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568475" y="6533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A-kinase anchoring protein 11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protein-coding (codes AKAP11)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AKAP family (cAMP)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schizophrenia risk gene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expressed in </a:t>
            </a:r>
            <a:r>
              <a:rPr i="1" lang="en"/>
              <a:t>(from Allen Brain Atlas)</a:t>
            </a:r>
            <a:r>
              <a:rPr lang="en"/>
              <a:t>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diencephalon (less)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mesencephalon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somewhat in between at cerebellum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pons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bleeds over to myelencephalon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5017075" y="4405400"/>
            <a:ext cx="20604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AlphaFold</a:t>
            </a:r>
            <a:endParaRPr i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experimental structure</a:t>
            </a:r>
            <a:endParaRPr i="1"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Knockout Mice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https://www.modelorg.us/portal/article/index/id/10909/post_type/3.html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https://www.cyagen.com/us/en/catalog-model-bank-us/S-KO-05497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still in development, none currently available (for now)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5327" y="2432002"/>
            <a:ext cx="3918850" cy="23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950" y="1257038"/>
            <a:ext cx="4044100" cy="29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698550" y="908950"/>
            <a:ext cx="774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ALGGEN - PROMO</a:t>
            </a:r>
            <a:endParaRPr sz="15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7850" y="405550"/>
            <a:ext cx="4836150" cy="43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0" y="1957200"/>
            <a:ext cx="4296300" cy="1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mostly co-expression + textmining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AKAP11 bonds: purely co-expression, textmining, experimentally determined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interwoven: gene fusions, gene co-occurrence, protein homology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overall seems unsure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cAMP-related or dependent proteins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88" y="3897499"/>
            <a:ext cx="4296324" cy="8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600" y="149525"/>
            <a:ext cx="5211257" cy="17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825" y="767800"/>
            <a:ext cx="4862100" cy="13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03600"/>
            <a:ext cx="8839204" cy="123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 rot="8883481">
            <a:off x="6452542" y="1287561"/>
            <a:ext cx="1178316" cy="461926"/>
          </a:xfrm>
          <a:prstGeom prst="rightArrow">
            <a:avLst>
              <a:gd fmla="val 26244" name="adj1"/>
              <a:gd fmla="val 64054" name="adj2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679350" y="1803100"/>
            <a:ext cx="1323600" cy="301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038525" y="1301350"/>
            <a:ext cx="20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https://restrictionmapper.org/</a:t>
            </a:r>
            <a:endParaRPr i="1"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52400" y="3809175"/>
            <a:ext cx="88392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NIH Primer-BLAST:</a:t>
            </a:r>
            <a:endParaRPr b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https://www.ncbi.nlm.nih.gov/tools/primer-blast/primertool.cgi?ctg_time=1722479772&amp;job_key=nJZCI1uRVjlxA8YGy2biNLF98wacbugbn</a:t>
            </a: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Q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75" y="74788"/>
            <a:ext cx="5645300" cy="49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6148575" y="289200"/>
            <a:ext cx="2797500" cy="4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UCSC Genome Browser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promoter SNP: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e.g</a:t>
            </a: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 rs238353 T/A</a:t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(possibly no active function as compared to others?)</a:t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upstream transcript variant, no reported clinical significance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coding SNP: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e.g. </a:t>
            </a:r>
            <a:r>
              <a:rPr lang="en" sz="13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rs61748843 C/T</a:t>
            </a:r>
            <a:endParaRPr sz="13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(protein-altering variants or splice site variants)</a:t>
            </a:r>
            <a:endParaRPr i="1" sz="11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missense variant, benign</a:t>
            </a:r>
            <a:endParaRPr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oddly large amount of </a:t>
            </a:r>
            <a:r>
              <a:rPr lang="en" sz="13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UTR variants</a:t>
            </a: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near </a:t>
            </a:r>
            <a:r>
              <a:rPr b="1"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end </a:t>
            </a: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of gene (terminator)</a:t>
            </a:r>
            <a:endParaRPr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most functional variants (</a:t>
            </a:r>
            <a:r>
              <a:rPr lang="en" sz="13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protein-altering, splice site,</a:t>
            </a: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3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synonymous codon variants</a:t>
            </a:r>
            <a:r>
              <a:rPr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 in coding found within or around </a:t>
            </a:r>
            <a:r>
              <a:rPr b="1"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exon 8</a:t>
            </a:r>
            <a:endParaRPr b="1"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Schizophrenia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+ Bipolar Disorder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644675" y="446250"/>
            <a:ext cx="4166400" cy="43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risk gene in both schizophrenia and bipolar disorder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seem to be heavily related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AKAP11 deficiency as risk (besides protein alteration in both schizophrenia and bipolar)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schizophrenia: 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mutant mice study: AKAP11 deficiency/mutant EEG scans parallel human schizophrenia  (GRIN2A also)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bipolar: 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AKAP11 interacts with GSK3B (hypothesized to be targeted by lithium)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lithium as existing BD treatment–AKAP11 or GSK3B possible drug targets?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still other possible factors…other genes…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neurological illnesses very complicated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511425"/>
            <a:ext cx="8520600" cy="33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https://pubmed.ncbi.nlm.nih.gov/36914870/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https://human.brain-map.org/microarray/search/show?exact_match=false&amp;search_term=%22AKAP11%22&amp;search_type=gene</a:t>
            </a:r>
            <a:r>
              <a:rPr lang="en"/>
              <a:t> (Allen Brain Atlas)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https://www.ncbi.nlm.nih.gov/books/NBK551509/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https://www.ncbi.nlm.nih.gov/books/NBK234157/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https://alphafold.ebi.ac.uk/entry/Q9UKA4</a:t>
            </a:r>
            <a:r>
              <a:rPr lang="en"/>
              <a:t> (AlphaFold)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https://alggen.lsi.upc.es/cgi-bin/promo_v3/promo/promoinit.cgi?dirDB=TF_8.3</a:t>
            </a:r>
            <a:r>
              <a:rPr lang="en"/>
              <a:t> (ALGGEN  - PROMO)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https://string-db.org/cgi/network?taskId=bNSGCkbOy2zl&amp;sessionId=bbq44gFyXkS</a:t>
            </a:r>
            <a:r>
              <a:rPr lang="en"/>
              <a:t> (STRING)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Eukaryotic Promoter Database–three possibilities (used </a:t>
            </a:r>
            <a:r>
              <a:rPr b="1" lang="en"/>
              <a:t>AKAP11_1</a:t>
            </a:r>
            <a:r>
              <a:rPr lang="en"/>
              <a:t>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https://epd.expasy.org/cgi-bin/epd/get_doc?db=hgEpdNew&amp;format=genome&amp;entry=AKAP11_1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primers: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11"/>
              </a:rPr>
              <a:t>https://restrictionmapper.org/</a:t>
            </a:r>
            <a:r>
              <a:rPr lang="en"/>
              <a:t> (to find cut sites)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12"/>
              </a:rPr>
              <a:t>https://www.ncbi.nlm.nih.gov/tools/primer-blast/primertool.cgi?ctg_time=1722479772&amp;job_key=nJZCI1uRVjlxA8YGy2biNLF98wacbugbnQ</a:t>
            </a:r>
            <a:r>
              <a:rPr lang="en"/>
              <a:t> (actual primer results)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r>
              <a:rPr lang="en"/>
              <a:t> (cont.)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505700"/>
            <a:ext cx="85206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https://genome.ucsc.edu/cgi-bin/hgTracks?db=hg38&amp;lastVirtModeType=default&amp;lastVirtModeExtraState=&amp;virtModeType=default&amp;virtMode=0&amp;nonVirtPosition=&amp;position=chr13%3A42269754%2D42320863&amp;hgsid=2321212104_xLa0FhlxvTKtRaTCyUbX0AoFr0Yx</a:t>
            </a:r>
            <a:r>
              <a:rPr lang="en"/>
              <a:t> (USCS Genome Browser)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https://www.ncbi.nlm.nih.gov/snp/rs238353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https://www.ncbi.nlm.nih.gov/snp/rs61748843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https://pubmed.ncbi.nlm.nih.gov/35410376/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https://pubmed.ncbi.nlm.nih.gov/36914641/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1000"/>
              </a:spcAft>
              <a:buSzPts val="1300"/>
              <a:buChar char="-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https://pubmed.ncbi.nlm.nih.gov/37171958/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